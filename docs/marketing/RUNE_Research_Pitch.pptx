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21BB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for research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21BB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accumulate, not reset.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enrolled, every consent signed, every grade confirmed — the system gets sharper. Cases · Candidates · Decisions · Judgments.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Qian Dong  ·  USTC Affiliated First Hospital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clinical AI resets every session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doctor accumulated — gone the next time you open the tab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804672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80467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protocol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/ exclusion / schedule live in your head. The chatbot never reads them and never enforces them — every triage starts from a blank slate.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804672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31720"/>
            <a:ext cx="73152" cy="80467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2423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past decisions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handled G2 pneumonitis last year is in your memory only. The AI re-derives the same advice every time, often worse than yours.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804672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246120"/>
            <a:ext cx="73152" cy="80467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80160" y="3337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cohort signal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about one patient at a time. The AI has no idea four other patients on the same study just hit a safety threshold.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research operations stay invisible, decisions stay fragile, AI never gets better.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plateau  ·  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Accumulate, not reset — across four axes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is signal; every signal sticks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69080" cy="1463040"/>
          </a:xfrm>
          <a:prstGeom prst="rect">
            <a:avLst/>
          </a:prstGeom>
          <a:solidFill>
            <a:srgbClr val="21BBC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08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病例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25880" y="1920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22402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timeline is permanent. Enrollments survive withdrawal, screen-failure, completion — the cohort is your asset.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4069080" cy="14630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7276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508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Candidates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577840" y="1920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937760" y="22402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screening evaluation writes a NEW row, never an update. The audit trail is the system's training data.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69080" cy="1463040"/>
          </a:xfrm>
          <a:prstGeom prst="rect">
            <a:avLst/>
          </a:prstGeom>
          <a:solidFill>
            <a:srgbClr val="131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72968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108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决策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325880" y="3520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8580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· Skip · Confirm-grade · Override — every doctor action becomes a labeled training signal for next time.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2971800"/>
            <a:ext cx="4069080" cy="1463040"/>
          </a:xfrm>
          <a:prstGeom prst="rect">
            <a:avLst/>
          </a:prstGeom>
          <a:solidFill>
            <a:srgbClr val="F2B54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72968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3108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判断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577840" y="3520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93776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evolve: Propose → Observe across the cohort → Verdict (kept / reverted) → cited as evidence next time.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four axes the rest of this deck walks through, one slide each.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 ·  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vs Day 365 — same prompt, different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everything the doctor decided in between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01752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4023360" cy="4114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Auto-rule passes 5 of 7 inclusion items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350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Auto-LLM unsure on "病人状态适合放疗" (no precedent)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8254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Suggests: "please confirm patient suitability"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3009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prior cases referenced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7764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safety trends visible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3017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371600"/>
            <a:ext cx="4023360" cy="411480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365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Same 5 auto-rule passes — instant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350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Auto-LLM: "likely eligible (conf 0.88) — same profile as 6 prior, all completed ICI maintenance without G3+"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28254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Suggests: "recommend invite; consider arm A based on KRAS pattern"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3009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Cites 11 episodes + 3 skills + 2 papers the doctor saved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7764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Flags: "3 cohort patients now overdue 3-month CT — group order possible"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8229600" cy="384048"/>
          </a:xfrm>
          <a:prstGeom prst="rect">
            <a:avLst/>
          </a:prstGeom>
          <a:solidFill>
            <a:srgbClr val="F2B54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26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weights, same prompt — accumulation does the work that fine-tuning can't.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· 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Axis 1 · 病例 accumulate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timeline is permanent — withdrawal is a tag, not a delete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468880" cy="292608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07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ACCUMULATING · 病例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206240" cy="297180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#003 LXX 71M — research timeline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109728" cy="109728"/>
          </a:xfrm>
          <a:prstGeom prst="ellipse">
            <a:avLst/>
          </a:prstGeom>
          <a:solidFill>
            <a:srgbClr val="21BBC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2025-08-04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83080" y="2148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· ES-SCLC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2340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screen_failed (ECOG=2)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633472"/>
            <a:ext cx="109728" cy="109728"/>
          </a:xfrm>
          <a:prstGeom prst="ellipse">
            <a:avLst/>
          </a:prstGeom>
          <a:solidFill>
            <a:srgbClr val="21BBC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2025-11-22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2560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· Hybrid 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83080" y="2752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likely_eligible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044952"/>
            <a:ext cx="109728" cy="109728"/>
          </a:xfrm>
          <a:prstGeom prst="ellipse">
            <a:avLst/>
          </a:prstGeom>
          <a:solidFill>
            <a:srgbClr val="21BBC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718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2026-01-22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83080" y="2971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· Hybrid RT (#003)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83080" y="3163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456432"/>
            <a:ext cx="109728" cy="109728"/>
          </a:xfrm>
          <a:prstGeom prst="ellipse">
            <a:avLst/>
          </a:prstGeom>
          <a:solidFill>
            <a:srgbClr val="21BBC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383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83080" y="3383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SBRT cycle complete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83080" y="35753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· completed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867912"/>
            <a:ext cx="109728" cy="109728"/>
          </a:xfrm>
          <a:prstGeom prst="ellipse">
            <a:avLst/>
          </a:prstGeom>
          <a:solidFill>
            <a:srgbClr val="21BBC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794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2026-05-29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83080" y="3794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 follow-up 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83080" y="3986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progression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279392"/>
            <a:ext cx="109728" cy="109728"/>
          </a:xfrm>
          <a:prstGeom prst="ellipse">
            <a:avLst/>
          </a:prstGeom>
          <a:solidFill>
            <a:srgbClr val="21BBC9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2062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783080" y="4206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pneumonitis observed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83080" y="43982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recorded · doctor confirmed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1691640"/>
            <a:ext cx="3840480" cy="2971800"/>
          </a:xfrm>
          <a:prstGeom prst="rect">
            <a:avLst/>
          </a:prstGeom>
          <a:solidFill>
            <a:srgbClr val="131A45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BB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accumulating cases unlocks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2194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24140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screen-failures, withdrawals, and completions are all queryable — no more reconstructing denominators by memory.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83480" y="2788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Re-enrollment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0083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screen-failed at ECOG=2 in 2025-08 — same patient eligible again in 2025-11. The system remembers both.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83480" y="3383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ITT / PP analyses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36027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 patients keep their pre-withdrawal data + a withdrawal_reason. Both analyses recoverable from one source.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83480" y="3977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Cross-study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1970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can carry history from multiple studies; reports cite the correct cohort each time.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1 · Cases  ·  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Axis 2 · Candidates accumulate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rules + every screening = a new audit row, never an update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468880" cy="292608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07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ACCUMULATING · CANDIDATES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.docx → live rules in 10 minutes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011680" cy="77724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57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.docx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IRB-approved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0592" y="2423160"/>
            <a:ext cx="91440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60320" y="2103120"/>
            <a:ext cx="2011680" cy="77724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2" name="Text 9"/>
          <p:cNvSpPr/>
          <p:nvPr/>
        </p:nvSpPr>
        <p:spPr>
          <a:xfrm>
            <a:off x="2651760" y="2157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extracts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65176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auto-rule · auto-LLM · manual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423160"/>
            <a:ext cx="91440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63440" y="2103120"/>
            <a:ext cx="2011680" cy="777240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16" name="Text 12"/>
          <p:cNvSpPr/>
          <p:nvPr/>
        </p:nvSpPr>
        <p:spPr>
          <a:xfrm>
            <a:off x="4754880" y="2157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confirm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75488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· click once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423160"/>
            <a:ext cx="91440" cy="16459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766560" y="2103120"/>
            <a:ext cx="201168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0" y="2157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live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85800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auto-screened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screening writes a new row — the audit trail IS the training data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57200" y="3429000"/>
            <a:ext cx="8229600" cy="132588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4" name="Text 19"/>
          <p:cNvSpPr/>
          <p:nvPr/>
        </p:nvSpPr>
        <p:spPr>
          <a:xfrm>
            <a:off x="594360" y="352044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evaluated_at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2103120" y="352044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383280" y="352044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434840" y="352044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035040" y="352044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7132320" y="352044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594360" y="376732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2025-11-22 14:08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2103120" y="37673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RT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3383280" y="376732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LXX 71M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4434840" y="3767328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likely_eligible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035040" y="37673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invited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7132320" y="376732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594360" y="4014216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2025-11-22 14:31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2103120" y="401421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ES-SCLC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3383280" y="401421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LXX 71M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4434840" y="401421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ineligible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6035040" y="401421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7132320" y="401421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594360" y="426110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2026-06-12 09:22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2103120" y="426110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RT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3383280" y="4261104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LXX 71M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4434840" y="426110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6035040" y="426110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7132320" y="426110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594360" y="45079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213 prior rows (audited, replayable, evolution training signal)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2103120" y="450799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0" name="Text 45"/>
          <p:cNvSpPr/>
          <p:nvPr/>
        </p:nvSpPr>
        <p:spPr>
          <a:xfrm>
            <a:off x="3383280" y="4507992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4434840" y="450799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6035040" y="450799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7132320" y="450799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2 · Candidates  ·  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Axis 3 · 决策 accumulate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reaches out; every doctor click is a labeled training signal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468880" cy="292608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07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ACCUMULATING · DECISIONS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2697480" cy="548640"/>
          </a:xfrm>
          <a:prstGeom prst="rect">
            <a:avLst/>
          </a:prstGeom>
          <a:solidFill>
            <a:srgbClr val="21BBC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013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801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Eligibility inbox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updates → re-score → alert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7249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scan / lab / SOAP → every study re-evaluates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Inbox card with per-criterion verdict + evidence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Invite · Skip · Snooze → all logged as training signal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23260" y="1691640"/>
            <a:ext cx="26974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23260" y="1691640"/>
            <a:ext cx="2697480" cy="5486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1801368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09060" y="1801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 calendar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5186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→ .ics meeting invites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51860" y="27249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Enrollment expands schedule_json into concrete visits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45186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T-24h: meeting invite to doctor + (consented) patient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451860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Overdue beyond grace → marked missed for ITT/PP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989320" y="1691640"/>
            <a:ext cx="26974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989320" y="1691640"/>
            <a:ext cx="2697480" cy="54864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01368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75120" y="1801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stream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21792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SOAP/lab → AE candidate → stop-rule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217920" y="27249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Auto-mirror new SOAPs into the study's Safety tab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21792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 proposes CTCAE grade — medic confirms to lock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217920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Per-protocol stop-rule fires when threshold hit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alert when there is a decision to make — and capture that decision as the agent's next training signal.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3 · Decisions  ·  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Axis 4 · 判断 accumulate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evolve: Propose → Observe across cohort → Verdict → cited next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468880" cy="292608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07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ACCUMULATING · JUDGMENTS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93392" cy="141732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a new skill / fact / episode after a session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9736" y="2331720"/>
            <a:ext cx="73152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42032" y="1691640"/>
            <a:ext cx="1993392" cy="1417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8"/>
          <p:cNvSpPr/>
          <p:nvPr/>
        </p:nvSpPr>
        <p:spPr>
          <a:xfrm>
            <a:off x="2724912" y="178308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724912" y="228600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VerdictRunner watches outcomes across the cohort for N events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331720"/>
            <a:ext cx="73152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26864" y="1691640"/>
            <a:ext cx="1993392" cy="1417320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15" name="Text 11"/>
          <p:cNvSpPr/>
          <p:nvPr/>
        </p:nvSpPr>
        <p:spPr>
          <a:xfrm>
            <a:off x="4809744" y="178308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809744" y="228600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· kept-with-warning · reverted — audit-logged, replayable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31720"/>
            <a:ext cx="73152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711696" y="1691640"/>
            <a:ext cx="1993392" cy="1417320"/>
          </a:xfrm>
          <a:prstGeom prst="rect">
            <a:avLst/>
          </a:prstGeom>
          <a:solidFill>
            <a:srgbClr val="F2B544"/>
          </a:solidFill>
          <a:ln/>
        </p:spPr>
      </p:sp>
      <p:sp>
        <p:nvSpPr>
          <p:cNvPr id="19" name="Text 14"/>
          <p:cNvSpPr/>
          <p:nvPr/>
        </p:nvSpPr>
        <p:spPr>
          <a:xfrm>
            <a:off x="6894576" y="178308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894576" y="228600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decision cites it as evidence — the agent gets sharper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And the loop closes — back to Propose on the next session.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3520440"/>
            <a:ext cx="4023360" cy="114300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v1 — proposed Day 1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0080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"G2 IO pneumonitis → MP 1 mg/kg start"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008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0.55  ·  0 outcomes observed yet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663440" y="3520440"/>
            <a:ext cx="402336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2"/>
          <p:cNvSpPr/>
          <p:nvPr/>
        </p:nvSpPr>
        <p:spPr>
          <a:xfrm>
            <a:off x="4846320" y="3566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v3 — after 6 cases, 4 months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846320" y="38221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"1 mg/kg if SpO₂ ≥ 92; 2 mg/kg + IV if &lt; 92"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846320" y="41605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0.88  ·  5 kept, 1 reverted  ·  cited 17× in chat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4 · Judgments  ·  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axes, one workspace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are the home; patients are members of studies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3200400"/>
          </a:xfrm>
          <a:prstGeom prst="rect">
            <a:avLst/>
          </a:prstGeom>
          <a:solidFill>
            <a:srgbClr val="131A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studies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12/35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ES-SCLC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Gy Ignition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08760" y="3246120"/>
            <a:ext cx="29260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32004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1371600"/>
            <a:ext cx="6583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RT NSCLC IV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40280" y="1828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I/II  ·  12 enrolled  ·  primary endpoint: pneumonitis ≥ G3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40280" y="2194560"/>
            <a:ext cx="822960" cy="292608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9" name="Text 17"/>
          <p:cNvSpPr/>
          <p:nvPr/>
        </p:nvSpPr>
        <p:spPr>
          <a:xfrm>
            <a:off x="2240280" y="2194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08960" y="2194560"/>
            <a:ext cx="822960" cy="292608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2194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77640" y="2194560"/>
            <a:ext cx="822960" cy="292608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3" name="Text 21"/>
          <p:cNvSpPr/>
          <p:nvPr/>
        </p:nvSpPr>
        <p:spPr>
          <a:xfrm>
            <a:off x="3977640" y="2194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194560"/>
            <a:ext cx="822960" cy="292608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194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15000" y="2194560"/>
            <a:ext cx="822960" cy="292608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2194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0" y="2194560"/>
            <a:ext cx="822960" cy="292608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2194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52360" y="2194560"/>
            <a:ext cx="822960" cy="292608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31" name="Text 29"/>
          <p:cNvSpPr/>
          <p:nvPr/>
        </p:nvSpPr>
        <p:spPr>
          <a:xfrm>
            <a:off x="7452360" y="2194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40280" y="2606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tab — 7 candidates pending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40280" y="2926080"/>
            <a:ext cx="6355080" cy="384048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29260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李XX 60M · 5 ✓ · 1 ⓘ LLM · 1 ⚠ manual    [Invite] [Skip] [Snooze]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40280" y="3383280"/>
            <a:ext cx="6355080" cy="384048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36" name="Text 34"/>
          <p:cNvSpPr/>
          <p:nvPr/>
        </p:nvSpPr>
        <p:spPr>
          <a:xfrm>
            <a:off x="2331720" y="33832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王XX 58F · 4 ✓ · 2 ⓘ LLM · 1 ⚠ manual    [Invite] [Skip] [Snooze]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40280" y="3840480"/>
            <a:ext cx="6355080" cy="384048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38" name="Text 36"/>
          <p:cNvSpPr/>
          <p:nvPr/>
        </p:nvSpPr>
        <p:spPr>
          <a:xfrm>
            <a:off x="2331720" y="38404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刘XX 71M · 3 ✓ · 3 ⓘ LLM · 1 ⚠ manual    [Invite] [Skip] [Snooze]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  ·  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Chat: grounded in what you've accumulated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lens · doctor's memory · 9 first-class knowledge tools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solidFill>
            <a:srgbClr val="EEF3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knowledge tools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PubMed E-utilities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249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Europe PMC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532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PMC full-text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2816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Unpaywall OA PDF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099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Semantic Scholar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383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bioRxiv / medRxiv / arXiv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666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CTCAE v5 dictionary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3950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OpenFDA drug labels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4233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CSCO / NCCN / ESMO (RAG)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680" y="1371600"/>
            <a:ext cx="4389120" cy="3200400"/>
          </a:xfrm>
          <a:prstGeom prst="rect">
            <a:avLst/>
          </a:prstGeom>
          <a:solidFill>
            <a:srgbClr val="131A45"/>
          </a:solidFill>
          <a:ln/>
        </p:spPr>
      </p:sp>
      <p:sp>
        <p:nvSpPr>
          <p:cNvPr id="17" name="Text 14"/>
          <p:cNvSpPr/>
          <p:nvPr/>
        </p:nvSpPr>
        <p:spPr>
          <a:xfrm>
            <a:off x="4434840" y="1463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HybridRT-IV  ·  Research Chat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43484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enrolled  +  7 candidates  ·  scope = research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43484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"对 G2 IO 肺炎，我们 cohort 用过什么剂量?有效吗?"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434840" y="269748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 prior cases · MP 1 mg/kg in 5, 2 mg/kg in 1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resolved without G3+ · median taper 28 days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Cited: Skill [S1] · Episodes [E1] [E2] [E3]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Guideline match: CSCO 2024 §6.3 [1]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Literature: PACIFIC 5-yr update [PMID 38xxxx] [2]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Chat  ·  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Compounding ≠ autonomy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guardrails that keep the doctor as the principal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judges criteria but never enrolls a patient — Invite is a human button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011680"/>
            <a:ext cx="73152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verdict MUST quote real evidence_refs — else verdict = unknown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51760"/>
            <a:ext cx="73152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51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651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Per-criterion confidence &lt; threshold demotes pass → unknown (per-study config)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73152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91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291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Cross-patient ambiguous bindings refuse to write (P0 imaging-safety lesson)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EEF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931920"/>
            <a:ext cx="73152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31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931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Auto-rule lint blocks unknown fields &amp; illegal DSL — the engine can't drift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·  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real protocols, already wired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USTC Affiliated First Hospital  ·  Dr Qian Dong cohort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64592" cy="914400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RT NSCLC IV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I/II  ·  Target n = 35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endpoint: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Pneumonitis ≥ G3 incidence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9788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inclusion · 3 exclusion · 5-visit schedule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23160"/>
            <a:ext cx="16459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14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ES-SCLC + Adebrelimab + 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 ·  Target n = 150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endpoint: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 (mPFS 5 vs 7.8 mo)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978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inclusion · 5 exclusion · 2 arms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74720"/>
            <a:ext cx="164592" cy="914400"/>
          </a:xfrm>
          <a:prstGeom prst="rect">
            <a:avLst/>
          </a:prstGeom>
          <a:solidFill>
            <a:srgbClr val="131A4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Gy Ignition + cCRT III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 ·  Target n = 6 → 24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89788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endpoint: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incidence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9788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8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inclusion · 6 exclusion · run-in halt rule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protocols  ·  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know compounding actually compounds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numbers tracked against the next 50 enrolled patients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86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1BB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70%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chart update to candidate surfacing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886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600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60%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89204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Visit-missed rate at the 3-month follow-up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3886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E8E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85%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LLM agreement on auto-llm criteria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926080"/>
            <a:ext cx="3886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2B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89204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cited per chat session (proxy for accumulation)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metric is the meta-metric — if it doesn't trend up, the accumulation thesis isn't working.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·  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compounding intelligence unlocks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loop, larger surface — for cohorts, for sites, for science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463040"/>
          </a:xfrm>
          <a:prstGeom prst="rect">
            <a:avLst/>
          </a:prstGeom>
          <a:solidFill>
            <a:srgbClr val="EEF3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Cohort meta-analysis on demand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1874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comparison of our PFS curve with PACIFIC / CheckMate / ASTRUM — always against the latest literature snapshot.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4114800" cy="1463040"/>
          </a:xfrm>
          <a:prstGeom prst="rect">
            <a:avLst/>
          </a:prstGeom>
          <a:solidFill>
            <a:srgbClr val="EEF3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Trial-to-real-world feedback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40680" y="1874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protocol-deviation detection. Suggest amendments grounded in the doctor's own evolving memory.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2971800"/>
            <a:ext cx="4114800" cy="1463040"/>
          </a:xfrm>
          <a:prstGeom prst="rect">
            <a:avLst/>
          </a:prstGeom>
          <a:solidFill>
            <a:srgbClr val="EEF3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publishing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43000" y="3474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drafts stay in sync with live data. Reproducible CONSORT + Table 1 + KM curves rebuild on demand.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54880" y="2971800"/>
            <a:ext cx="4114800" cy="1463040"/>
          </a:xfrm>
          <a:prstGeom prst="rect">
            <a:avLst/>
          </a:prstGeom>
          <a:solidFill>
            <a:srgbClr val="EEF3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Multi-site federation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40680" y="3474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protocol, twelve hospitals. AI normalises differences without moving raw PHI off-site.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 ·  An AI for research should accumulate, not reset.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5720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a clinical AI that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21BB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accumulates with you.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· Candidates · Decisions · Judgments — never reset.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260604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108960"/>
            <a:ext cx="2606040" cy="91440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with 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 a protocol-aware workspace for your tumor center.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108960"/>
            <a:ext cx="260604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3108960"/>
            <a:ext cx="2606040" cy="91440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 pilot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single-site eligibility + visit pilot, zero data egress.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108960"/>
            <a:ext cx="260604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3108960"/>
            <a:ext cx="2606040" cy="91440"/>
          </a:xfrm>
          <a:prstGeom prst="rect">
            <a:avLst/>
          </a:prstGeom>
          <a:solidFill>
            <a:srgbClr val="21BBC9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Contribute literature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guideline / paper corpus you trust; we wire it into chat.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contact@rune-protocol.app  ·  rune-protocol.app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AI for research should accumulate, not reset.</dc:title>
  <dc:subject>PptxGenJS Presentation</dc:subject>
  <dc:creator>Rune / Nexus</dc:creator>
  <cp:lastModifiedBy>Rune / Nexus</cp:lastModifiedBy>
  <cp:revision>1</cp:revision>
  <dcterms:created xsi:type="dcterms:W3CDTF">2026-06-15T16:50:22Z</dcterms:created>
  <dcterms:modified xsi:type="dcterms:W3CDTF">2026-06-15T16:50:22Z</dcterms:modified>
</cp:coreProperties>
</file>